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UNIDO AI Chatbot</a:t>
            </a:r>
          </a:p>
          <a:p>
            <a:pPr algn="ctr">
              <a:spcBef>
                <a:spcPts val="1200"/>
              </a:spcBef>
              <a:spcAft>
                <a:spcPts val="200"/>
              </a:spcAft>
              <a:defRPr sz="2200" b="0">
                <a:solidFill>
                  <a:srgbClr val="A0C0E0"/>
                </a:solidFill>
              </a:defRPr>
            </a:pPr>
            <a:r>
              <a:t>System Architecture &amp; Technical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383280"/>
            <a:ext cx="3931920" cy="36576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0D0E0"/>
                </a:solidFill>
              </a:defRPr>
            </a:pPr>
            <a:r>
              <a:t>Careers RAG Chatbot — Powered by Azure OpenAI + Elasticsearch</a:t>
            </a:r>
          </a:p>
          <a:p>
            <a:pPr algn="ctr">
              <a:spcBef>
                <a:spcPts val="20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</a:defRPr>
            </a:pPr>
            <a:r>
              <a:t>MouriTech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Component overview and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Frontend — </a:t>
            </a:r>
            <a:r>
              <a:rPr sz="1300">
                <a:solidFill>
                  <a:srgbClr val="334155"/>
                </a:solidFill>
              </a:rPr>
              <a:t>React 19 + Vite 7, Bootstrap 5, Recharts charts, Socket.IO Client, React Hook Form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Backend — </a:t>
            </a:r>
            <a:r>
              <a:rPr sz="1300">
                <a:solidFill>
                  <a:srgbClr val="334155"/>
                </a:solidFill>
              </a:rPr>
              <a:t>Express 5 on Node.js, Mongoose 9 (MongoDB ODM), Puppeteer (scraping), Socket.IO, node-cron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AI Layer — </a:t>
            </a:r>
            <a:r>
              <a:rPr sz="1300">
                <a:solidFill>
                  <a:srgbClr val="334155"/>
                </a:solidFill>
              </a:rPr>
              <a:t>Azure OpenAI GPT-4o-mini (chat completion) + text-embedding-3-small (1536-dim embeddings)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Vector Store — </a:t>
            </a:r>
            <a:r>
              <a:rPr sz="1300">
                <a:solidFill>
                  <a:srgbClr val="334155"/>
                </a:solidFill>
              </a:rPr>
              <a:t>Elasticsearch 8.x with kNN cosine similarity search on dense_vector index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Database — </a:t>
            </a:r>
            <a:r>
              <a:rPr sz="1300">
                <a:solidFill>
                  <a:srgbClr val="334155"/>
                </a:solidFill>
              </a:rPr>
              <a:t>MongoDB with 4 collections: chatSessions, chatLogs, adminUsers, adminSettings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Security Stack — </a:t>
            </a:r>
            <a:r>
              <a:rPr sz="1300">
                <a:solidFill>
                  <a:srgbClr val="334155"/>
                </a:solidFill>
              </a:rPr>
              <a:t>Helmet, strict CORS, 3-tier rate limits, JWT HS256, bcrypt 12 rounds, NoSQL injection guard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Data Flow — </a:t>
            </a:r>
            <a:r>
              <a:rPr sz="1300">
                <a:solidFill>
                  <a:srgbClr val="334155"/>
                </a:solidFill>
              </a:rPr>
              <a:t>User → React Widget → Express API → Guard Service → RAG Pipeline → JSON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Chat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End-to-end journey from user input to AI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Session Init — </a:t>
            </a:r>
            <a:r>
              <a:rPr sz="1300">
                <a:solidFill>
                  <a:srgbClr val="334155"/>
                </a:solidFill>
              </a:rPr>
              <a:t>GET /api/chat/visibility checks if chatbot is enabled; sessionId stored in sessionStorage (per-tab isolation)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Message Path — </a:t>
            </a:r>
            <a:r>
              <a:rPr sz="1300">
                <a:solidFill>
                  <a:srgbClr val="334155"/>
                </a:solidFill>
              </a:rPr>
              <a:t>POST /api/chat/ask → express-validator → enabled check → Guard checks → RAG → save to DB → return { answer, sources }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Guard Gates — </a:t>
            </a:r>
            <a:r>
              <a:rPr sz="1300">
                <a:solidFill>
                  <a:srgbClr val="334155"/>
                </a:solidFill>
              </a:rPr>
              <a:t>Two pre-RAG checks: isBlockedQuery() (offensive/confidential/injection) and isOutOfScope() (unrelated topics)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History-Aware — </a:t>
            </a:r>
            <a:r>
              <a:rPr sz="1300">
                <a:solidFill>
                  <a:srgbClr val="334155"/>
                </a:solidFill>
              </a:rPr>
              <a:t>Loads prior messages from ChatSession to give AI full conversation context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Persist &amp; Emit — </a:t>
            </a:r>
            <a:r>
              <a:rPr sz="1300">
                <a:solidFill>
                  <a:srgbClr val="334155"/>
                </a:solidFill>
              </a:rPr>
              <a:t>Saves ChatLog with timing/IP/user-agent metadata; emits analytics:updated via Socket.IO for live admin dashboard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Session Recovery — </a:t>
            </a:r>
            <a:r>
              <a:rPr sz="1300">
                <a:solidFill>
                  <a:srgbClr val="334155"/>
                </a:solidFill>
              </a:rPr>
              <a:t>If backend returns 404, frontend auto-clears sessionStorage and creates a fresh session (zero user friction)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Quick Actions — </a:t>
            </a:r>
            <a:r>
              <a:rPr sz="1300">
                <a:solidFill>
                  <a:srgbClr val="334155"/>
                </a:solidFill>
              </a:rPr>
              <a:t>3 preset buttons ("What jobs are available?", "How do I apply?", "What are the benefits?") use the same sendMessage()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Retrieval-Augmented Generation: Embed → Retrieve → 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Step 1 — </a:t>
            </a:r>
            <a:r>
              <a:rPr sz="1300">
                <a:solidFill>
                  <a:srgbClr val="334155"/>
                </a:solidFill>
              </a:rPr>
              <a:t>Embed: User question → Azure OpenAI text-embedding-3-small → 1536-dimensional float vector capturing semantic meaning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Step 2 — </a:t>
            </a:r>
            <a:r>
              <a:rPr sz="1300">
                <a:solidFill>
                  <a:srgbClr val="334155"/>
                </a:solidFill>
              </a:rPr>
              <a:t>Retrieve: Vector sent to Elasticsearch kNN search; TOP_K=5 results, num_candidates=50, minimum cosine similarity 0.75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No Results Safeguard — </a:t>
            </a:r>
            <a:r>
              <a:rPr sz="1300">
                <a:solidFill>
                  <a:srgbClr val="334155"/>
                </a:solidFill>
              </a:rPr>
              <a:t>If no chunks pass the 0.75 threshold, returns "I do not have enough information" — skips GPT call (saves cost, prevents hallucination)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Step 3 — </a:t>
            </a:r>
            <a:r>
              <a:rPr sz="1300">
                <a:solidFill>
                  <a:srgbClr val="334155"/>
                </a:solidFill>
              </a:rPr>
              <a:t>Generate: Retrieved chunks formatted as CONTEXT, sent with conversation history to GPT-4o-mini at temperature 0.1 (near-deterministic)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System Prompt — </a:t>
            </a:r>
            <a:r>
              <a:rPr sz="1300">
                <a:solidFill>
                  <a:srgbClr val="334155"/>
                </a:solidFill>
              </a:rPr>
              <a:t>Loaded from AdminSettings (configurable via Admin UI); instructs AI to answer ONLY from provided context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Tunable via Env — </a:t>
            </a:r>
            <a:r>
              <a:rPr sz="1300">
                <a:solidFill>
                  <a:srgbClr val="334155"/>
                </a:solidFill>
              </a:rPr>
              <a:t>RAG_TOP_K and RAG_MIN_SCORE configurable without code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Guard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Content filtering, prompt injection defense, and scope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Four-Layer Filter — </a:t>
            </a:r>
            <a:r>
              <a:rPr sz="1300">
                <a:solidFill>
                  <a:srgbClr val="334155"/>
                </a:solidFill>
              </a:rPr>
              <a:t>Every question passes: Offensive → Confidential → Prompt Injection → Out-of-Scope checks before reaching RAG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Offensive — </a:t>
            </a:r>
            <a:r>
              <a:rPr sz="1300">
                <a:solidFill>
                  <a:srgbClr val="334155"/>
                </a:solidFill>
              </a:rPr>
              <a:t>Blocks profanity, hate speech, threats, violence, self-harm keywords; returns professional fallback message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Confidential — </a:t>
            </a:r>
            <a:r>
              <a:rPr sz="1300">
                <a:solidFill>
                  <a:srgbClr val="334155"/>
                </a:solidFill>
              </a:rPr>
              <a:t>Blocks PII extraction: "staff salary", "passport", "ssn", "credit card", "medical record", "employee data"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Prompt Injection — </a:t>
            </a:r>
            <a:r>
              <a:rPr sz="1300">
                <a:solidFill>
                  <a:srgbClr val="334155"/>
                </a:solidFill>
              </a:rPr>
              <a:t>Blocks "ignore previous instructions", "you are now", "system:", "DAN jailbreak", "[INST]", "&lt;&lt;SYS&gt;&gt;", "forget everything" + 10 more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Out-of-Scope — </a:t>
            </a:r>
            <a:r>
              <a:rPr sz="1300">
                <a:solidFill>
                  <a:srgbClr val="334155"/>
                </a:solidFill>
              </a:rPr>
              <a:t>Polite redirection for code generation, recipes, weather, sports, stocks, crypto, homework requests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Hard Limits — </a:t>
            </a:r>
            <a:r>
              <a:rPr sz="1300">
                <a:solidFill>
                  <a:srgbClr val="334155"/>
                </a:solidFill>
              </a:rPr>
              <a:t>Empty inputs and messages over 2,000 characters blocked; all blocked queries logged with guardReason for audit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Contextual Responses — </a:t>
            </a:r>
            <a:r>
              <a:rPr sz="1300">
                <a:solidFill>
                  <a:srgbClr val="334155"/>
                </a:solidFill>
              </a:rPr>
              <a:t>buildBlockedAnswer(reason) returns different user-friendly messages per block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Scraping, cleaning, chunking, embedding, and indexing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6 Scrapers (Puppeteer) — </a:t>
            </a:r>
            <a:r>
              <a:rPr sz="1300">
                <a:solidFill>
                  <a:srgbClr val="334155"/>
                </a:solidFill>
              </a:rPr>
              <a:t>Homepage, FAQs, Job Search (paginated 25/page), Job Details, Categories, Category Content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HTML Cleaning — </a:t>
            </a:r>
            <a:r>
              <a:rPr sz="1300">
                <a:solidFill>
                  <a:srgbClr val="334155"/>
                </a:solidFill>
              </a:rPr>
              <a:t>Cheerio strips &lt;script&gt;, &lt;style&gt;, &lt;header&gt;, &lt;footer&gt;, &lt;nav&gt; elements; 1.5s delay between pages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Chunking — </a:t>
            </a:r>
            <a:r>
              <a:rPr sz="1300">
                <a:solidFill>
                  <a:srgbClr val="334155"/>
                </a:solidFill>
              </a:rPr>
              <a:t>Sentence-based splitting, max 1000 chars/chunk, 1-sentence overlap for context continuity; 6 typed chunk formats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Embedding — </a:t>
            </a:r>
            <a:r>
              <a:rPr sz="1300">
                <a:solidFill>
                  <a:srgbClr val="334155"/>
                </a:solidFill>
              </a:rPr>
              <a:t>Each chunk → Azure OpenAI 1536-dim vector; processed sequentially to respect API rate limits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Indexing — </a:t>
            </a:r>
            <a:r>
              <a:rPr sz="1300">
                <a:solidFill>
                  <a:srgbClr val="334155"/>
                </a:solidFill>
              </a:rPr>
              <a:t>Elasticsearch dense_vector index with cosine similarity; deleteByQuery clears old data, then bulk API indexes all chunks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Backup — </a:t>
            </a:r>
            <a:r>
              <a:rPr sz="1300">
                <a:solidFill>
                  <a:srgbClr val="334155"/>
                </a:solidFill>
              </a:rPr>
              <a:t>JSON files saved to data/ and chunks/ with date-prefixed filenames (e.g., 180226_unido_faqs.json)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Cron — </a:t>
            </a:r>
            <a:r>
              <a:rPr sz="1300">
                <a:solidFill>
                  <a:srgbClr val="334155"/>
                </a:solidFill>
              </a:rPr>
              <a:t>Daily at midnight UTC (0 0 * * *) when ENABLE_CRON=true; also triggerable on-demand from Admin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Auth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Admin login, JWT verification, and route protection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Login — </a:t>
            </a:r>
            <a:r>
              <a:rPr sz="1300">
                <a:solidFill>
                  <a:srgbClr val="334155"/>
                </a:solidFill>
              </a:rPr>
              <a:t>POST /api/admin/auth/login (rate limited 5/min) → bcrypt.compare (12 rounds) → JWT HS256 signed, 25-min expiry → stored in localStorage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Timing Attack Defense — </a:t>
            </a:r>
            <a:r>
              <a:rPr sz="1300">
                <a:solidFill>
                  <a:srgbClr val="334155"/>
                </a:solidFill>
              </a:rPr>
              <a:t>If user not found, a dummy password is hashed anyway to prevent user enumeration via response timing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JWT Payload — </a:t>
            </a:r>
            <a:r>
              <a:rPr sz="1300">
                <a:solidFill>
                  <a:srgbClr val="334155"/>
                </a:solidFill>
              </a:rPr>
              <a:t>{ id, role: "admin", iat } with 32+ character secret required in production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Middleware — </a:t>
            </a:r>
            <a:r>
              <a:rPr sz="1300">
                <a:solidFill>
                  <a:srgbClr val="334155"/>
                </a:solidFill>
              </a:rPr>
              <a:t>Extracts Bearer token → validates 3-part JWT format → jwt.verify() with algorithms: ["HS256"] + maxAge: "30m" → checks role === "admin"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Client-Side Guard — </a:t>
            </a:r>
            <a:r>
              <a:rPr sz="1300">
                <a:solidFill>
                  <a:srgbClr val="334155"/>
                </a:solidFill>
              </a:rPr>
              <a:t>PrivateRoute.jsx parses JWT, checks exp with 30s buffer, validates role (UX only — server independently verifies every call)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Error Handling — </a:t>
            </a:r>
            <a:r>
              <a:rPr sz="1300">
                <a:solidFill>
                  <a:srgbClr val="334155"/>
                </a:solidFill>
              </a:rPr>
              <a:t>Expired tokens → specific 401; other failures → generic 401; role mismatch → 403 with IP logged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Admin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Analytics dashboard, settings, scraping control, exports, and data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Analytics — </a:t>
            </a:r>
            <a:r>
              <a:rPr sz="1300">
                <a:solidFill>
                  <a:srgbClr val="334155"/>
                </a:solidFill>
              </a:rPr>
              <a:t>MongoDB aggregations: conversations, message distribution, unique users (by IP), avg response time, error count; 3 Recharts charts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Settings — </a:t>
            </a:r>
            <a:r>
              <a:rPr sz="1300">
                <a:solidFill>
                  <a:srgbClr val="334155"/>
                </a:solidFill>
              </a:rPr>
              <a:t>PUT /api/admin/settings updates system prompt (max 500 chars) and chatbotEnabled toggle; propagates live via Socket.IO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Scraping Control — </a:t>
            </a:r>
            <a:r>
              <a:rPr sz="1300">
                <a:solidFill>
                  <a:srgbClr val="334155"/>
                </a:solidFill>
              </a:rPr>
              <a:t>POST /api/admin/scrape/trigger with state machine (idle → running); frontend polls status every 5s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CSV Export — </a:t>
            </a:r>
            <a:r>
              <a:rPr sz="1300">
                <a:solidFill>
                  <a:srgbClr val="334155"/>
                </a:solidFill>
              </a:rPr>
              <a:t>GET /api/admin/reports/chat-logs with date range + type filter; max 10,000 rows with timing/IP/status columns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All Information — </a:t>
            </a:r>
            <a:r>
              <a:rPr sz="1300">
                <a:solidFill>
                  <a:srgbClr val="334155"/>
                </a:solidFill>
              </a:rPr>
              <a:t>Paginated (default 25, max 100), regex-searchable across 6 fields, ReDoS-protected, sorted newest-first, auto-refreshes via Socket.IO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Real-time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Socket.IO architecture for live updates across admin and widget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Architecture — </a:t>
            </a:r>
            <a:r>
              <a:rPr sz="1300">
                <a:solidFill>
                  <a:srgbClr val="334155"/>
                </a:solidFill>
              </a:rPr>
              <a:t>Socket.IO on same Express server; WebSocket transport with polling fallback; admin clients send JWT in auth handshake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Auth Middleware — </a:t>
            </a:r>
            <a:r>
              <a:rPr sz="1300">
                <a:solidFill>
                  <a:srgbClr val="334155"/>
                </a:solidFill>
              </a:rPr>
              <a:t>Verifies JWT on connect → sets socket.isAdmin = true; invalid/missing token still connects as non-admin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Connection — </a:t>
            </a:r>
            <a:r>
              <a:rPr sz="1300">
                <a:solidFill>
                  <a:srgbClr val="334155"/>
                </a:solidFill>
              </a:rPr>
              <a:t>Singleton pattern via getSocket(); server emits socket:ready with timestamp; 30-minute idle disconnect timeout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analytics:updated — </a:t>
            </a:r>
            <a:r>
              <a:rPr sz="1300">
                <a:solidFill>
                  <a:srgbClr val="334155"/>
                </a:solidFill>
              </a:rPr>
              <a:t>Emitted on session create, chat log save, or settings change → triggers admin dashboard refresh automatically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information:updated — </a:t>
            </a:r>
            <a:r>
              <a:rPr sz="1300">
                <a:solidFill>
                  <a:srgbClr val="334155"/>
                </a:solidFill>
              </a:rPr>
              <a:t>Emitted on chat log creation → triggers All Information table refresh in real-time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chatbot:visibilityChanged — </a:t>
            </a:r>
            <a:r>
              <a:rPr sz="1300">
                <a:solidFill>
                  <a:srgbClr val="334155"/>
                </a:solidFill>
              </a:rPr>
              <a:t>Emitted when admin toggles chatbot on/off → ChatWidget shows/hides instantly with { chatbotEnabled } payload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Defense-in-depth: 9 middleware layers protecting every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Middleware Stack — </a:t>
            </a:r>
            <a:r>
              <a:rPr sz="1300">
                <a:solidFill>
                  <a:srgbClr val="334155"/>
                </a:solidFill>
              </a:rPr>
              <a:t>requestId → securityHeaders → methodGuard → payloadGuard (2 MB) → Helmet + CORS → auditLogger → Body Parsers → inputSanitizer → noSQLInjectionGuard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Rate Limits — </a:t>
            </a:r>
            <a:r>
              <a:rPr sz="1300">
                <a:solidFill>
                  <a:srgbClr val="334155"/>
                </a:solidFill>
              </a:rPr>
              <a:t>Auth: 5/min (brute-force), Chat: 100/min, Admin: 30/min; Speed limiter: 500ms delay after 50 req/min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Input Sanitizer — </a:t>
            </a:r>
            <a:r>
              <a:rPr sz="1300">
                <a:solidFill>
                  <a:srgbClr val="334155"/>
                </a:solidFill>
              </a:rPr>
              <a:t>Blocks &lt;script&gt;, javascript:, on*=, ${}, {{}} patterns → 400 Bad Request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NoSQL Guard — </a:t>
            </a:r>
            <a:r>
              <a:rPr sz="1300">
                <a:solidFill>
                  <a:srgbClr val="334155"/>
                </a:solidFill>
              </a:rPr>
              <a:t>Rejects body/query keys starting with $ (MongoDB operators like $gt, $ne) → 400 Bad Request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CSP — </a:t>
            </a:r>
            <a:r>
              <a:rPr sz="1300">
                <a:solidFill>
                  <a:srgbClr val="334155"/>
                </a:solidFill>
              </a:rPr>
              <a:t>default-src 'self', script-src 'self', object-src 'none', frame-src 'none'; X-Powered-By removed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CORS — </a:t>
            </a:r>
            <a:r>
              <a:rPr sz="1300">
                <a:solidFill>
                  <a:srgbClr val="334155"/>
                </a:solidFill>
              </a:rPr>
              <a:t>Production: only https://careers.unido.org; blocks requests with no Origin header; strict allowed methods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Headers — </a:t>
            </a:r>
            <a:r>
              <a:rPr sz="1300">
                <a:solidFill>
                  <a:srgbClr val="334155"/>
                </a:solidFill>
              </a:rPr>
              <a:t>HSTS 1yr + preload, X-Frame-Options: DENY, nosniff, Cross-Origin policies: same-origin, HTTPS redirect in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API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Complete list of REST endpoints (7 public + 8 protected)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GET /health — </a:t>
            </a:r>
            <a:r>
              <a:rPr sz="1300">
                <a:solidFill>
                  <a:srgbClr val="334155"/>
                </a:solidFill>
              </a:rPr>
              <a:t>Service health check (public)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GET /api/chat/visibility — </a:t>
            </a:r>
            <a:r>
              <a:rPr sz="1300">
                <a:solidFill>
                  <a:srgbClr val="334155"/>
                </a:solidFill>
              </a:rPr>
              <a:t>Check if chatbot is enabled (public)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POST /api/chat/session — </a:t>
            </a:r>
            <a:r>
              <a:rPr sz="1300">
                <a:solidFill>
                  <a:srgbClr val="334155"/>
                </a:solidFill>
              </a:rPr>
              <a:t>Create anonymous chat session (public)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POST /api/chat/ask — </a:t>
            </a:r>
            <a:r>
              <a:rPr sz="1300">
                <a:solidFill>
                  <a:srgbClr val="334155"/>
                </a:solidFill>
              </a:rPr>
              <a:t>Send question, receive AI answer + sources (public, rate limited 100/min)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POST /api/admin/auth/login — </a:t>
            </a:r>
            <a:r>
              <a:rPr sz="1300">
                <a:solidFill>
                  <a:srgbClr val="334155"/>
                </a:solidFill>
              </a:rPr>
              <a:t>Admin login, returns JWT (public, rate limited 5/min)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GET /api/admin/analytics — </a:t>
            </a:r>
            <a:r>
              <a:rPr sz="1300">
                <a:solidFill>
                  <a:srgbClr val="334155"/>
                </a:solidFill>
              </a:rPr>
              <a:t>Dashboard metrics with optional date range filter (JWT required)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GET /api/admin/allInformation — </a:t>
            </a:r>
            <a:r>
              <a:rPr sz="1300">
                <a:solidFill>
                  <a:srgbClr val="334155"/>
                </a:solidFill>
              </a:rPr>
              <a:t>Paginated chat logs with search (JWT required)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GET|PUT /api/admin/settings — </a:t>
            </a:r>
            <a:r>
              <a:rPr sz="1300">
                <a:solidFill>
                  <a:srgbClr val="334155"/>
                </a:solidFill>
              </a:rPr>
              <a:t>Read/update system prompt and chatbot toggle (JWT required)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POST /api/admin/scrape/trigger | GET /api/admin/scrape/status — </a:t>
            </a:r>
            <a:r>
              <a:rPr sz="1300">
                <a:solidFill>
                  <a:srgbClr val="334155"/>
                </a:solidFill>
              </a:rPr>
              <a:t>Trigger and monitor scraping pipeline (JWT required)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GET /api/admin/reports/chat-logs — </a:t>
            </a:r>
            <a:r>
              <a:rPr sz="1300">
                <a:solidFill>
                  <a:srgbClr val="334155"/>
                </a:solidFill>
              </a:rPr>
              <a:t>CSV export with date/type filters (JWT required)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Environment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All configuration values needed to run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Required — </a:t>
            </a:r>
            <a:r>
              <a:rPr sz="1300">
                <a:solidFill>
                  <a:srgbClr val="334155"/>
                </a:solidFill>
              </a:rPr>
              <a:t>MONGO_URI, AZURE_OPENAI_ENDPOINT, AZURE_OPENAI_KEY, AZURE_OPENAI_DEPLOYMENT, AZURE_EMBEDDING_DEPLOYMENT, JWT_SECRET, ADMIN_EMAIL, ADMIN_PASSWORD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Elasticsearch — </a:t>
            </a:r>
            <a:r>
              <a:rPr sz="1300">
                <a:solidFill>
                  <a:srgbClr val="334155"/>
                </a:solidFill>
              </a:rPr>
              <a:t>ELASTIC_NODE (localhost:9200), ELASTIC_USERNAME, ELASTIC_PASSWORD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Azure OpenAI — </a:t>
            </a:r>
            <a:r>
              <a:rPr sz="1300">
                <a:solidFill>
                  <a:srgbClr val="334155"/>
                </a:solidFill>
              </a:rPr>
              <a:t>AZURE_OPENAI_API_VERSION (default: 2024-10-21)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Tunable — </a:t>
            </a:r>
            <a:r>
              <a:rPr sz="1300">
                <a:solidFill>
                  <a:srgbClr val="334155"/>
                </a:solidFill>
              </a:rPr>
              <a:t>JWT_EXPIRES (25m), ENABLE_CRON (false), CRON_TIMEZONE (UTC), RAG_TOP_K (5), RAG_MIN_SCORE (0.75)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Frontend — </a:t>
            </a:r>
            <a:r>
              <a:rPr sz="1300">
                <a:solidFill>
                  <a:srgbClr val="334155"/>
                </a:solidFill>
              </a:rPr>
              <a:t>Single variable: VITE_API_BASE_URL (default: http://localhost:5000)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Production Enforcement — </a:t>
            </a:r>
            <a:r>
              <a:rPr sz="1300">
                <a:solidFill>
                  <a:srgbClr val="334155"/>
                </a:solidFill>
              </a:rPr>
              <a:t>NODE_ENV=production requires JWT_SECRET 32+ chars; ADMIN_PASSWORD 12+ chars recommended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Security — </a:t>
            </a:r>
            <a:r>
              <a:rPr sz="1300">
                <a:solidFill>
                  <a:srgbClr val="334155"/>
                </a:solidFill>
              </a:rPr>
              <a:t>Never commit .env to source control; use Azure Key Vault or secrets manager in production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Org Security — Data &amp;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Data protection, privacy, authentication hardening, and network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No PII Storage — </a:t>
            </a:r>
            <a:r>
              <a:rPr sz="1300">
                <a:solidFill>
                  <a:srgbClr val="334155"/>
                </a:solidFill>
              </a:rPr>
              <a:t>Anonymous UUID sessions; no personal data collected; GDPR / UN data-protection compliant by design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PII Query Blocking — </a:t>
            </a:r>
            <a:r>
              <a:rPr sz="1300">
                <a:solidFill>
                  <a:srgbClr val="334155"/>
                </a:solidFill>
              </a:rPr>
              <a:t>Guard blocks attempts to extract "staff salary", "passport", "ssn", "credit card" via the AI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Response Grounding — </a:t>
            </a:r>
            <a:r>
              <a:rPr sz="1300">
                <a:solidFill>
                  <a:srgbClr val="334155"/>
                </a:solidFill>
              </a:rPr>
              <a:t>RAG-only answers at temperature 0.1; no chunks = no GPT call (prevents hallucination entirely)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Session Isolation — </a:t>
            </a:r>
            <a:r>
              <a:rPr sz="1300">
                <a:solidFill>
                  <a:srgbClr val="334155"/>
                </a:solidFill>
              </a:rPr>
              <a:t>Per-tab sessionStorage; sessions can't cross-reference; closing tab destroys session data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Auth Hardening — </a:t>
            </a:r>
            <a:r>
              <a:rPr sz="1300">
                <a:solidFill>
                  <a:srgbClr val="334155"/>
                </a:solidFill>
              </a:rPr>
              <a:t>bcrypt 12 rounds (~250ms/hash), timing-attack defense (dummy hash on user not found), JWT HS256 with 25m expiry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Auth Rate Limiting — </a:t>
            </a:r>
            <a:r>
              <a:rPr sz="1300">
                <a:solidFill>
                  <a:srgbClr val="334155"/>
                </a:solidFill>
              </a:rPr>
              <a:t>5 login attempts/min per IP; does NOT skip successful requests — prevents credential stuffing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Network Security — </a:t>
            </a:r>
            <a:r>
              <a:rPr sz="1300">
                <a:solidFill>
                  <a:srgbClr val="334155"/>
                </a:solidFill>
              </a:rPr>
              <a:t>HSTS 1yr + preload, strict CORS, X-Frame-Options: DENY, Permissions-Policy disables camera/mic/geo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Org Security — Input &amp; OWASP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Input security, AI safety, monitoring, and OWASP Top 10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XSS Defense — </a:t>
            </a:r>
            <a:r>
              <a:rPr sz="1300">
                <a:solidFill>
                  <a:srgbClr val="334155"/>
                </a:solidFill>
              </a:rPr>
              <a:t>3-layer: Input sanitizer middleware + Content Security Policy + React's default output escaping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NoSQL Injection — </a:t>
            </a:r>
            <a:r>
              <a:rPr sz="1300">
                <a:solidFill>
                  <a:srgbClr val="334155"/>
                </a:solidFill>
              </a:rPr>
              <a:t>Dedicated guard rejects $-prefixed keys ($gt, $ne, $or); template injection (${}, {{}}) also blocked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Prompt Injection — </a:t>
            </a:r>
            <a:r>
              <a:rPr sz="1300">
                <a:solidFill>
                  <a:srgbClr val="334155"/>
                </a:solidFill>
              </a:rPr>
              <a:t>Four-layer guard filters before AI: blocks system prompt overrides, DAN jailbreaks, instruction manipulation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AI-Specific Risks — </a:t>
            </a:r>
            <a:r>
              <a:rPr sz="1300">
                <a:solidFill>
                  <a:srgbClr val="334155"/>
                </a:solidFill>
              </a:rPr>
              <a:t>Hallucination: RAG + low temp; Data poisoning: only official UNIDO domains scraped; Scope creep: out-of-scope detector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Monitoring — </a:t>
            </a:r>
            <a:r>
              <a:rPr sz="1300">
                <a:solidFill>
                  <a:srgbClr val="334155"/>
                </a:solidFill>
              </a:rPr>
              <a:t>Unique requestId per request; audit logger records method/path/status/duration/IP; errors ≥400 and slow &gt;5s requests flagged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OWASP Top 10 — </a:t>
            </a:r>
            <a:r>
              <a:rPr sz="1300">
                <a:solidFill>
                  <a:srgbClr val="334155"/>
                </a:solidFill>
              </a:rPr>
              <a:t>9/10 categories "Mitigated" (A01–A05, A07–A10); A06 "Ongoing" — modern deps, regular npm audit recommended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No SSRF — </a:t>
            </a:r>
            <a:r>
              <a:rPr sz="1300">
                <a:solidFill>
                  <a:srgbClr val="334155"/>
                </a:solidFill>
              </a:rPr>
              <a:t>No user-supplied URLs fetched; scraping targets hardcoded to UNIDO domains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Go-Live — Azure OpenAI &amp; Elasticsearch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The AI intelligence and semantic search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Azure OpenAI API [CRITICAL] — </a:t>
            </a:r>
            <a:r>
              <a:rPr sz="1300">
                <a:solidFill>
                  <a:srgbClr val="334155"/>
                </a:solidFill>
              </a:rPr>
              <a:t>Powers both question understanding (embeddings) and human-like response generation (GPT-4o-mini)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Credentials Needed — </a:t>
            </a:r>
            <a:r>
              <a:rPr sz="1300">
                <a:solidFill>
                  <a:srgbClr val="334155"/>
                </a:solidFill>
              </a:rPr>
              <a:t>Endpoint URL, API key, chat model deployment name, embedding model deployment name, API version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Env Vars — </a:t>
            </a:r>
            <a:r>
              <a:rPr sz="1300">
                <a:solidFill>
                  <a:srgbClr val="334155"/>
                </a:solidFill>
              </a:rPr>
              <a:t>AZURE_OPENAI_ENDPOINT, AZURE_OPENAI_KEY, AZURE_OPENAI_DEPLOYMENT, AZURE_EMBEDDING_DEPLOYMENT, AZURE_OPENAI_API_VERSION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Elasticsearch [CRITICAL] — </a:t>
            </a:r>
            <a:r>
              <a:rPr sz="1300">
                <a:solidFill>
                  <a:srgbClr val="334155"/>
                </a:solidFill>
              </a:rPr>
              <a:t>Vector database enabling fast kNN semantic search across all scraped career content (1536-dim cosine)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ES Credentials — </a:t>
            </a:r>
            <a:r>
              <a:rPr sz="1300">
                <a:solidFill>
                  <a:srgbClr val="334155"/>
                </a:solidFill>
              </a:rPr>
              <a:t>Node URL, username, password, index name; requires Elasticsearch 8.x+ with dense_vector + kNN support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ES Options — </a:t>
            </a:r>
            <a:r>
              <a:rPr sz="1300">
                <a:solidFill>
                  <a:srgbClr val="334155"/>
                </a:solidFill>
              </a:rPr>
              <a:t>Elastic Cloud, Azure-hosted Elasticsearch, or self-managed cluster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Go-Live — Blob Storage &amp; Content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Persistent storage, backups, and ML-powered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Azure Blob Storage [CRITICAL] — </a:t>
            </a:r>
            <a:r>
              <a:rPr sz="1300">
                <a:solidFill>
                  <a:srgbClr val="334155"/>
                </a:solidFill>
              </a:rPr>
              <a:t>Stores raw scraped JSON, chunked content, and backups between scraping and indexing pipelines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Re-indexing — </a:t>
            </a:r>
            <a:r>
              <a:rPr sz="1300">
                <a:solidFill>
                  <a:srgbClr val="334155"/>
                </a:solidFill>
              </a:rPr>
              <a:t>If Elasticsearch needs rebuilding (schema change, corruption), system re-reads from Blob Storage without re-scraping the website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Blob Credentials — </a:t>
            </a:r>
            <a:r>
              <a:rPr sz="1300">
                <a:solidFill>
                  <a:srgbClr val="334155"/>
                </a:solidFill>
              </a:rPr>
              <a:t>AZURE_STORAGE_CONNECTION_STRING + container name (default: unido-chatbot)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Azure AI Content Safety [IMPORTANT] — </a:t>
            </a:r>
            <a:r>
              <a:rPr sz="1300">
                <a:solidFill>
                  <a:srgbClr val="334155"/>
                </a:solidFill>
              </a:rPr>
              <a:t>ML-powered guardrails scanning responses for harmful content; provides auditable safety scores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Complements Built-in Guard — </a:t>
            </a:r>
            <a:r>
              <a:rPr sz="1300">
                <a:solidFill>
                  <a:srgbClr val="334155"/>
                </a:solidFill>
              </a:rPr>
              <a:t>Local regex guard catches known patterns instantly; Azure Content Safety catches novel threats with continuously-updated ML models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Content Safety Credentials — </a:t>
            </a:r>
            <a:r>
              <a:rPr sz="1300">
                <a:solidFill>
                  <a:srgbClr val="334155"/>
                </a:solidFill>
              </a:rPr>
              <a:t>AZURE_CONTENT_SAFETY_ENDPOINT + AZURE_CONTENT_SAFETY_KEY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UNIDO AI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37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0C0E0"/>
                </a:solidFill>
              </a:defRPr>
            </a:pPr>
            <a: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</a:defRPr>
            </a:pPr>
            <a:r>
              <a:t>UNIDO Careers RAG Chatbot  •  MouriTech  • 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73152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1F3D"/>
                </a:solidFill>
              </a:defRPr>
            </a:pPr>
            <a:r>
              <a:t>Go-Live — MongoDB &amp;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Operational database and complete service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MongoDB [CRITICAL] — </a:t>
            </a:r>
            <a:r>
              <a:rPr sz="1300">
                <a:solidFill>
                  <a:srgbClr val="334155"/>
                </a:solidFill>
              </a:rPr>
              <a:t>Primary operational database storing chat sessions, chat logs (full audit trail), admin users, admin settings, scraped content metadata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Credential — </a:t>
            </a:r>
            <a:r>
              <a:rPr sz="1300">
                <a:solidFill>
                  <a:srgbClr val="334155"/>
                </a:solidFill>
              </a:rPr>
              <a:t>Single connection string (MONGO_URI); requires MongoDB 6+; options: Azure Cosmos DB, MongoDB Atlas, or self-managed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Data Retention — </a:t>
            </a:r>
            <a:r>
              <a:rPr sz="1300">
                <a:solidFill>
                  <a:srgbClr val="334155"/>
                </a:solidFill>
              </a:rPr>
              <a:t>Establish a purge policy (e.g., 90 days) for chat logs; currently no automatic cleanup configured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Service #1: Azure OpenAI API — </a:t>
            </a:r>
            <a:r>
              <a:rPr sz="1300">
                <a:solidFill>
                  <a:srgbClr val="334155"/>
                </a:solidFill>
              </a:rPr>
              <a:t>Intelligence layer (embeddings + chat) [CRITICAL]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Service #2: Elasticsearch — </a:t>
            </a:r>
            <a:r>
              <a:rPr sz="1300">
                <a:solidFill>
                  <a:srgbClr val="334155"/>
                </a:solidFill>
              </a:rPr>
              <a:t>Semantic vector search backbone [CRITICAL]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Service #3: Azure Blob Storage — </a:t>
            </a:r>
            <a:r>
              <a:rPr sz="1300">
                <a:solidFill>
                  <a:srgbClr val="334155"/>
                </a:solidFill>
              </a:rPr>
              <a:t>Raw data storage and backup [CRITICAL]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Service #4: Azure AI Content Safety — </a:t>
            </a:r>
            <a:r>
              <a:rPr sz="1300">
                <a:solidFill>
                  <a:srgbClr val="334155"/>
                </a:solidFill>
              </a:rPr>
              <a:t>ML-powered content guardrails [IMPORTANT]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300" b="1">
                <a:solidFill>
                  <a:srgbClr val="334155"/>
                </a:solidFill>
              </a:rPr>
              <a:t>•  Service #5: MongoDB — </a:t>
            </a:r>
            <a:r>
              <a:rPr sz="1300">
                <a:solidFill>
                  <a:srgbClr val="334155"/>
                </a:solidFill>
              </a:rPr>
              <a:t>Operational data, logs, and analytics [CRITICAL]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spcAft>
                <a:spcPts val="200"/>
              </a:spcAft>
              <a:defRPr sz="2200" b="0">
                <a:solidFill>
                  <a:srgbClr val="A0C0E0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UNIDO AI Chatbot  •  MouriTech  •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